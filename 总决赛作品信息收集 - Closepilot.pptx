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14747772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EE83-B7AE-5304-410B-DAFCAAA32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632DD-FBB1-D0E0-A0D8-1AEB95BA8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91EE2-1FBF-EDB2-0423-F57AAC1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CF4FF-8A27-9975-9FD1-DD7D0010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A8353-0B07-ED5C-FAF1-E4B9B4B8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83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C162-21DD-CD87-B8B2-A152F2969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675CE-0B74-F93A-51CA-D9112BFF9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91FE5-42B6-5532-4CD7-47BCCB2C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6110-A999-C3CE-8019-E70E4F81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D8E52-2653-BBC9-B707-19531261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7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59AC-1ADA-9E22-78D7-EEF5273D5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18CA3-B089-765C-9C91-4863A3FBC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ADD00-178C-AD64-FF27-4A8F712A3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E819A-3426-0D27-E7F8-B85E6A11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74088-0EF1-C8DC-5369-86E2D8446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13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0B934-87DB-8423-105D-4D1A8C981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76D46-195C-A9E8-78C9-D124B83EB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219DC-DEB1-43DA-3B33-66482F054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9C852-CE29-A0C7-A7FC-5FED08BB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A034B-7A6D-EA93-2AB7-2FC4A121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52A79-1529-1385-3582-FC2D3D48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89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F322-C472-79D5-A627-A1BB8CDEF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60157-6420-A8EC-5FE5-E84DDFA96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0F8FE-EF05-A1E1-547B-379EA771A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23502-4958-E352-C8F6-73F43EE88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98B22-B4E1-A912-B5AA-FB546B191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25CEC2-1279-50F8-361F-03A7E87DC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5B74EE-FB1C-1214-157E-EE31DA5C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A1525-BAA9-49E0-0F18-30E5DC86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0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8E17-5DA1-96AB-EC8D-50110295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6BD4E-2F23-043D-A1DA-E913E116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50B26-3E8E-B176-3792-C2B8DF4D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C307D-12F1-FE0E-F670-2E37A97D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4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312769-089A-41CB-A9DC-9C0DD9A53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B469BA-5F6E-D16F-E458-7D3652432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C65C6-6874-75DE-6005-8014FB15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4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7F33-1FBA-9DA1-74E9-5DFBC14B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1A8D2-E6FC-76D8-7049-019CAD492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D0AF9-12C3-8281-9467-9DAEBF367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9B601-D0E4-7FA6-15D6-29EDB819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D6D74-3633-B172-3928-7C141C67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899A7-B68A-C30C-AD83-CAC8D1C04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84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B71E-11D6-A26A-04BD-FA0583F1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E66E1B-56FF-FD04-E9A5-763E6B3E2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CC611-47A1-7D1C-764D-BCD3A87B6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FB257-9307-6380-A66A-22653B7CB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FC512-C37C-133F-7CBE-1BD995E15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7EA9C-8456-1877-B944-591A69303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8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8884-52C8-A3C7-F724-08A3C32C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DE61B-386A-AB37-9408-5C4D96FD0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D0AF2-B8BB-A638-C430-08799F19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54765-D3D3-ED01-E55F-6820965A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58EEB-C92E-4789-CE5F-61E7CE42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20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8CFB78-AAC7-E4F7-943F-D0AF968817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0F418-210F-AB14-355E-4416D5AEF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63C3C-C818-5B63-92A4-7205A27D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EE4D3-9278-DA7D-D32B-C171F04E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4181D-3CD7-9B95-D803-AF87CA14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82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Only Titl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7656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m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DD52E1DC-2570-433F-01D7-58740152DB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270" y="168197"/>
            <a:ext cx="5119409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buNone/>
              <a:defRPr lang="en-US" sz="1400" i="0" kern="1200" dirty="0">
                <a:solidFill>
                  <a:srgbClr val="A100FF"/>
                </a:solidFill>
                <a:latin typeface="GT Sectra Fine Bk" panose="00000400000000000000" pitchFamily="50" charset="0"/>
                <a:ea typeface="+mn-ea"/>
                <a:cs typeface="+mn-cs"/>
              </a:defRPr>
            </a:lvl1pPr>
          </a:lstStyle>
          <a:p>
            <a:pPr lvl="0" defTabSz="914400"/>
            <a:endParaRPr lang="en-US"/>
          </a:p>
        </p:txBody>
      </p:sp>
      <p:sp>
        <p:nvSpPr>
          <p:cNvPr id="3" name="Title 56">
            <a:extLst>
              <a:ext uri="{FF2B5EF4-FFF2-40B4-BE49-F238E27FC236}">
                <a16:creationId xmlns:a16="http://schemas.microsoft.com/office/drawing/2014/main" id="{FF64A0E7-1559-2D88-7ADF-1747E862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5636"/>
            <a:ext cx="11430000" cy="406532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spc="-15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10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B77BD4-884E-5790-0A27-26B48E98DE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8BA95BD1-768E-C974-EE17-F84102062C3C}"/>
              </a:ext>
            </a:extLst>
          </p:cNvPr>
          <p:cNvSpPr>
            <a:spLocks/>
          </p:cNvSpPr>
          <p:nvPr userDrawn="1"/>
        </p:nvSpPr>
        <p:spPr bwMode="auto">
          <a:xfrm>
            <a:off x="398780" y="6568934"/>
            <a:ext cx="163616" cy="179751"/>
          </a:xfrm>
          <a:custGeom>
            <a:avLst/>
            <a:gdLst>
              <a:gd name="T0" fmla="*/ 0 w 382"/>
              <a:gd name="T1" fmla="*/ 0 h 405"/>
              <a:gd name="T2" fmla="*/ 0 w 382"/>
              <a:gd name="T3" fmla="*/ 0 h 405"/>
              <a:gd name="T4" fmla="*/ 382 w 382"/>
              <a:gd name="T5" fmla="*/ 155 h 405"/>
              <a:gd name="T6" fmla="*/ 382 w 382"/>
              <a:gd name="T7" fmla="*/ 251 h 405"/>
              <a:gd name="T8" fmla="*/ 0 w 382"/>
              <a:gd name="T9" fmla="*/ 405 h 405"/>
              <a:gd name="T10" fmla="*/ 0 w 382"/>
              <a:gd name="T11" fmla="*/ 286 h 405"/>
              <a:gd name="T12" fmla="*/ 223 w 382"/>
              <a:gd name="T13" fmla="*/ 203 h 405"/>
              <a:gd name="T14" fmla="*/ 0 w 382"/>
              <a:gd name="T15" fmla="*/ 116 h 405"/>
              <a:gd name="T16" fmla="*/ 0 w 382"/>
              <a:gd name="T17" fmla="*/ 0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2" h="405">
                <a:moveTo>
                  <a:pt x="0" y="0"/>
                </a:moveTo>
                <a:lnTo>
                  <a:pt x="0" y="0"/>
                </a:lnTo>
                <a:lnTo>
                  <a:pt x="382" y="155"/>
                </a:lnTo>
                <a:lnTo>
                  <a:pt x="382" y="251"/>
                </a:lnTo>
                <a:lnTo>
                  <a:pt x="0" y="405"/>
                </a:lnTo>
                <a:lnTo>
                  <a:pt x="0" y="286"/>
                </a:lnTo>
                <a:lnTo>
                  <a:pt x="223" y="203"/>
                </a:ln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B29B20-08C4-CBD4-5C0E-DF561B4D6E72}"/>
              </a:ext>
            </a:extLst>
          </p:cNvPr>
          <p:cNvSpPr txBox="1"/>
          <p:nvPr userDrawn="1"/>
        </p:nvSpPr>
        <p:spPr>
          <a:xfrm>
            <a:off x="8698890" y="6546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itle 56">
            <a:extLst>
              <a:ext uri="{FF2B5EF4-FFF2-40B4-BE49-F238E27FC236}">
                <a16:creationId xmlns:a16="http://schemas.microsoft.com/office/drawing/2014/main" id="{E1D8888A-0F6C-0CD3-1225-6ACE4B04A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5636"/>
            <a:ext cx="11430000" cy="406532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spc="-15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70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56">
            <a:extLst>
              <a:ext uri="{FF2B5EF4-FFF2-40B4-BE49-F238E27FC236}">
                <a16:creationId xmlns:a16="http://schemas.microsoft.com/office/drawing/2014/main" id="{7DAF3330-7CED-43C3-A4F7-231E4DCF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5636"/>
            <a:ext cx="11430000" cy="406532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spc="-15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44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标准母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F7308C-2A43-4DBB-8E3D-85BFB52B12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2864" y="266875"/>
            <a:ext cx="9886721" cy="539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Graphik" panose="020B0503030202060203" pitchFamily="34" charset="0"/>
              </a:defRPr>
            </a:lvl1pPr>
            <a:lvl2pPr>
              <a:defRPr>
                <a:latin typeface="Graphik" panose="020B0503030202060203" pitchFamily="34" charset="0"/>
              </a:defRPr>
            </a:lvl2pPr>
            <a:lvl3pPr>
              <a:defRPr>
                <a:latin typeface="Graphik" panose="020B0503030202060203" pitchFamily="34" charset="0"/>
              </a:defRPr>
            </a:lvl3pPr>
            <a:lvl4pPr>
              <a:defRPr>
                <a:latin typeface="Graphik" panose="020B0503030202060203" pitchFamily="34" charset="0"/>
              </a:defRPr>
            </a:lvl4pPr>
            <a:lvl5pPr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FD9A1-68FF-4E9A-952D-CB373FED3AB9}"/>
              </a:ext>
            </a:extLst>
          </p:cNvPr>
          <p:cNvSpPr/>
          <p:nvPr userDrawn="1"/>
        </p:nvSpPr>
        <p:spPr>
          <a:xfrm>
            <a:off x="0" y="257250"/>
            <a:ext cx="125128" cy="46201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026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D017-0887-C6B3-F5E8-EF38E9936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B67B9-4775-13D6-3D2A-FABED97E3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DB10A-B8E9-E2D9-3082-8EBA34F9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7693-9E7F-49CC-8283-2617BD3BBA1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2AC35-12B0-F00F-2BC6-5369F824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C2A8D-8CC5-4A52-B9A1-B5EF8EB8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8798-886A-417F-9448-C2A400BCE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1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15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C59AD1-7257-DA86-4A6A-A30D8F90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F34B5-1B7B-7779-0E4E-722AA3BC0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7B1F6-76DC-26A4-B874-7FD2E525C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ED085F-04C6-442E-80DD-9425A5E3CED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E5358-24A0-8C0D-375D-0DA4188E4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7AD45-E078-9150-31B2-0A9E8C41A7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15039-592D-425B-B112-612A613DA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7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ED027807-7C20-4249-B2E8-FA7C788CB9CD}"/>
              </a:ext>
            </a:extLst>
          </p:cNvPr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7647331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501" imgH="501" progId="TCLayout.ActiveDocument.1">
                  <p:embed/>
                </p:oleObj>
              </mc:Choice>
              <mc:Fallback>
                <p:oleObj name="think-cell Folie" r:id="rId9" imgW="501" imgH="501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ED027807-7C20-4249-B2E8-FA7C788C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780" y="381000"/>
            <a:ext cx="11313793" cy="46960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(32pt)</a:t>
            </a: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C9CE5993-E65A-4983-A367-162304F58C95}"/>
              </a:ext>
            </a:extLst>
          </p:cNvPr>
          <p:cNvSpPr>
            <a:spLocks/>
          </p:cNvSpPr>
          <p:nvPr/>
        </p:nvSpPr>
        <p:spPr bwMode="auto">
          <a:xfrm>
            <a:off x="398780" y="6568934"/>
            <a:ext cx="163616" cy="179751"/>
          </a:xfrm>
          <a:custGeom>
            <a:avLst/>
            <a:gdLst>
              <a:gd name="T0" fmla="*/ 0 w 382"/>
              <a:gd name="T1" fmla="*/ 0 h 405"/>
              <a:gd name="T2" fmla="*/ 0 w 382"/>
              <a:gd name="T3" fmla="*/ 0 h 405"/>
              <a:gd name="T4" fmla="*/ 382 w 382"/>
              <a:gd name="T5" fmla="*/ 155 h 405"/>
              <a:gd name="T6" fmla="*/ 382 w 382"/>
              <a:gd name="T7" fmla="*/ 251 h 405"/>
              <a:gd name="T8" fmla="*/ 0 w 382"/>
              <a:gd name="T9" fmla="*/ 405 h 405"/>
              <a:gd name="T10" fmla="*/ 0 w 382"/>
              <a:gd name="T11" fmla="*/ 286 h 405"/>
              <a:gd name="T12" fmla="*/ 223 w 382"/>
              <a:gd name="T13" fmla="*/ 203 h 405"/>
              <a:gd name="T14" fmla="*/ 0 w 382"/>
              <a:gd name="T15" fmla="*/ 116 h 405"/>
              <a:gd name="T16" fmla="*/ 0 w 382"/>
              <a:gd name="T17" fmla="*/ 0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2" h="405">
                <a:moveTo>
                  <a:pt x="0" y="0"/>
                </a:moveTo>
                <a:lnTo>
                  <a:pt x="0" y="0"/>
                </a:lnTo>
                <a:lnTo>
                  <a:pt x="382" y="155"/>
                </a:lnTo>
                <a:lnTo>
                  <a:pt x="382" y="251"/>
                </a:lnTo>
                <a:lnTo>
                  <a:pt x="0" y="405"/>
                </a:lnTo>
                <a:lnTo>
                  <a:pt x="0" y="286"/>
                </a:lnTo>
                <a:lnTo>
                  <a:pt x="223" y="203"/>
                </a:ln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549B5-BEE7-7E38-8826-4A9805B9F24E}"/>
              </a:ext>
            </a:extLst>
          </p:cNvPr>
          <p:cNvSpPr txBox="1"/>
          <p:nvPr userDrawn="1"/>
        </p:nvSpPr>
        <p:spPr>
          <a:xfrm>
            <a:off x="8698890" y="6546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606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 spc="-150" dirty="0">
          <a:solidFill>
            <a:schemeClr val="tx1"/>
          </a:solidFill>
          <a:latin typeface="Graphik Semibold" panose="020B0703030202060203" pitchFamily="34" charset="0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3" pos="234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07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CB3A-2C4E-7A4B-DA3A-6AF8FE82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796354-744D-2E1D-8321-0E72838E806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Picture 9" descr="A light bulb on a grid Description automatically generated">
              <a:extLst>
                <a:ext uri="{FF2B5EF4-FFF2-40B4-BE49-F238E27FC236}">
                  <a16:creationId xmlns:a16="http://schemas.microsoft.com/office/drawing/2014/main" id="{864A2386-F400-4426-B32F-1E6463ADA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284"/>
            <a:stretch>
              <a:fillRect/>
            </a:stretch>
          </p:blipFill>
          <p:spPr>
            <a:xfrm>
              <a:off x="3082671" y="0"/>
              <a:ext cx="910932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408243-EE8A-91CC-1C15-99CDC34939E4}"/>
                </a:ext>
              </a:extLst>
            </p:cNvPr>
            <p:cNvSpPr/>
            <p:nvPr/>
          </p:nvSpPr>
          <p:spPr>
            <a:xfrm>
              <a:off x="0" y="0"/>
              <a:ext cx="12192000" cy="6857990"/>
            </a:xfrm>
            <a:prstGeom prst="rect">
              <a:avLst/>
            </a:prstGeom>
            <a:gradFill flip="none" rotWithShape="0">
              <a:gsLst>
                <a:gs pos="0">
                  <a:schemeClr val="tx1">
                    <a:lumMod val="100000"/>
                  </a:schemeClr>
                </a:gs>
                <a:gs pos="27000">
                  <a:schemeClr val="tx1"/>
                </a:gs>
                <a:gs pos="49000">
                  <a:schemeClr val="tx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BD6C50A-F32B-EA3B-1138-B66EBAD7DB60}"/>
              </a:ext>
            </a:extLst>
          </p:cNvPr>
          <p:cNvGrpSpPr/>
          <p:nvPr/>
        </p:nvGrpSpPr>
        <p:grpSpPr>
          <a:xfrm>
            <a:off x="5842001" y="2243432"/>
            <a:ext cx="6036468" cy="3313476"/>
            <a:chOff x="6165812" y="346881"/>
            <a:chExt cx="5708476" cy="34456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D59ABA5-4EE5-2D80-FDA9-B2AF9034026D}"/>
                </a:ext>
              </a:extLst>
            </p:cNvPr>
            <p:cNvGrpSpPr/>
            <p:nvPr/>
          </p:nvGrpSpPr>
          <p:grpSpPr>
            <a:xfrm>
              <a:off x="6165812" y="346881"/>
              <a:ext cx="5708476" cy="3445625"/>
              <a:chOff x="75392" y="497417"/>
              <a:chExt cx="6690784" cy="4038545"/>
            </a:xfrm>
          </p:grpSpPr>
          <p:pic>
            <p:nvPicPr>
              <p:cNvPr id="7" name="Picture 2" descr="MacBookPro-Mask.png">
                <a:extLst>
                  <a:ext uri="{FF2B5EF4-FFF2-40B4-BE49-F238E27FC236}">
                    <a16:creationId xmlns:a16="http://schemas.microsoft.com/office/drawing/2014/main" id="{4214B298-02DF-8E06-1977-4A64A31001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392" y="497417"/>
                <a:ext cx="6690784" cy="4038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89B6F8E-32FA-AC40-C3D9-F20027239342}"/>
                  </a:ext>
                </a:extLst>
              </p:cNvPr>
              <p:cNvSpPr/>
              <p:nvPr/>
            </p:nvSpPr>
            <p:spPr>
              <a:xfrm>
                <a:off x="890286" y="3603009"/>
                <a:ext cx="5060998" cy="379615"/>
              </a:xfrm>
              <a:prstGeom prst="rect">
                <a:avLst/>
              </a:prstGeom>
              <a:solidFill>
                <a:srgbClr val="F3F3F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Microsoft YaHei" panose="020B0503020204020204" pitchFamily="34" charset="-122"/>
                  <a:cs typeface="+mn-cs"/>
                  <a:sym typeface="Graphik" panose="020B0503030202060203" pitchFamily="34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E050F4E-F1C7-754E-DEEA-BE5F96CFCBA8}"/>
                  </a:ext>
                </a:extLst>
              </p:cNvPr>
              <p:cNvSpPr/>
              <p:nvPr/>
            </p:nvSpPr>
            <p:spPr>
              <a:xfrm>
                <a:off x="890285" y="771976"/>
                <a:ext cx="5060997" cy="3210648"/>
              </a:xfrm>
              <a:prstGeom prst="rect">
                <a:avLst/>
              </a:prstGeom>
              <a:noFill/>
              <a:ln w="19050" cap="flat" cmpd="sng" algn="ctr">
                <a:solidFill>
                  <a:srgbClr val="4454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Microsoft YaHei" panose="020B0503020204020204" pitchFamily="34" charset="-122"/>
                  <a:cs typeface="+mn-cs"/>
                  <a:sym typeface="Graphik" panose="020B0503030202060203" pitchFamily="34" charset="0"/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F73D28E-5082-CA52-57D9-CE75E7FB5328}"/>
                </a:ext>
              </a:extLst>
            </p:cNvPr>
            <p:cNvSpPr/>
            <p:nvPr/>
          </p:nvSpPr>
          <p:spPr>
            <a:xfrm>
              <a:off x="6861066" y="539240"/>
              <a:ext cx="4317966" cy="278117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Microsoft YaHei" panose="020B0503020204020204" pitchFamily="34" charset="-122"/>
                  <a:cs typeface="+mn-cs"/>
                  <a:sym typeface="Graphik" panose="020B0503030202060203" pitchFamily="34" charset="0"/>
                </a:rPr>
                <a:t>Demo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Microsoft YaHei" panose="020B0503020204020204" pitchFamily="34" charset="-122"/>
                  <a:cs typeface="+mn-cs"/>
                  <a:sym typeface="Graphik" panose="020B0503030202060203" pitchFamily="34" charset="0"/>
                </a:rPr>
                <a:t>的截图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Microsoft YaHei" panose="020B0503020204020204" pitchFamily="34" charset="-122"/>
                  <a:cs typeface="+mn-cs"/>
                  <a:sym typeface="Graphik" panose="020B0503030202060203" pitchFamily="34" charset="0"/>
                </a:rPr>
                <a:t>/5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Microsoft YaHei" panose="020B0503020204020204" pitchFamily="34" charset="-122"/>
                  <a:cs typeface="+mn-cs"/>
                  <a:sym typeface="Graphik" panose="020B0503030202060203" pitchFamily="34" charset="0"/>
                </a:rPr>
                <a:t>秒内的视频片段</a:t>
              </a: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  <a:sym typeface="Graphik" panose="020B050303020206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7E423CC-5E86-88D2-FD84-6F5A6687229A}"/>
              </a:ext>
            </a:extLst>
          </p:cNvPr>
          <p:cNvSpPr txBox="1"/>
          <p:nvPr/>
        </p:nvSpPr>
        <p:spPr>
          <a:xfrm>
            <a:off x="359661" y="6310752"/>
            <a:ext cx="75323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Greater China AI Innovation Contest 2026 Grand Final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F8C5AF-8C3C-5DD4-6064-899531CEE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24" y="362628"/>
            <a:ext cx="1048060" cy="2768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6FFE7B3-0F43-093F-584E-4F15570C5C0F}"/>
              </a:ext>
            </a:extLst>
          </p:cNvPr>
          <p:cNvSpPr txBox="1"/>
          <p:nvPr/>
        </p:nvSpPr>
        <p:spPr>
          <a:xfrm>
            <a:off x="359661" y="6080509"/>
            <a:ext cx="75323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2026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埃森哲大中华区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AI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创新大赛总决赛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7F6077-CDC3-5795-54AA-72F5FDADB7F8}"/>
              </a:ext>
            </a:extLst>
          </p:cNvPr>
          <p:cNvSpPr txBox="1"/>
          <p:nvPr/>
        </p:nvSpPr>
        <p:spPr>
          <a:xfrm>
            <a:off x="359661" y="1151634"/>
            <a:ext cx="7370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ClosePilot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 - SAP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智能月结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Agent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CEFE8E-D100-BBA2-7EE7-19D1BBF9E8E2}"/>
              </a:ext>
            </a:extLst>
          </p:cNvPr>
          <p:cNvSpPr txBox="1"/>
          <p:nvPr/>
        </p:nvSpPr>
        <p:spPr>
          <a:xfrm>
            <a:off x="359661" y="2028208"/>
            <a:ext cx="587857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ClosePilot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是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AI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驱动的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SAP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智能月结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Agent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，通过自然语言对话自动编排月结流程。核心能力：一是配置化流程引擎，业务顾问通过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YAML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配置即可适配不同客户，零代码开发；二是知识沉淀闭环，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AI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记录历史处理方案，下次自动给出匹配建议；三是智能联络，自动识别责任人并生成邮件草稿，可编辑后一键发送；四是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Human-in-the-Loop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治理，高风险操作必须人工确认。月结耗时从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5-7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天压缩至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2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小时，效率提升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83%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。</a:t>
            </a:r>
            <a:b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</a:br>
            <a:r>
              <a:rPr kumimoji="0" lang="en-US" altLang="zh-CN" sz="12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ClosePilot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 is an AI-powered SAP month-end closing Agent that automates financial close workflows through natural language. Core capabilities: (1) Configurable process engine — business consultants adapt workflows via YAML, zero coding; (2) Knowledge accumulation — AI records historical solutions and auto-suggests matches; (3) Smart contact — auto-identifies responsible parties and generates editable email drafts; (4) Human-in-the-Loop governance — high-risk operations require manual confirmation. Closing time reduced from 5-7 days to 2 hours, 83% efficiency gain.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438BBB-D51B-88D8-8C23-407B6035B0F9}"/>
              </a:ext>
            </a:extLst>
          </p:cNvPr>
          <p:cNvSpPr txBox="1"/>
          <p:nvPr/>
        </p:nvSpPr>
        <p:spPr>
          <a:xfrm>
            <a:off x="359662" y="5135719"/>
            <a:ext cx="5522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团队成员：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Yuyang.a.hao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;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binyan.chen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; yixi.a.li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575ECA-A6B6-7406-70EC-6D1431F85B23}"/>
              </a:ext>
            </a:extLst>
          </p:cNvPr>
          <p:cNvSpPr txBox="1"/>
          <p:nvPr/>
        </p:nvSpPr>
        <p:spPr>
          <a:xfrm>
            <a:off x="359662" y="4787531"/>
            <a:ext cx="5522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演讲人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Microsoft YaHei" panose="020B0503020204020204" pitchFamily="34" charset="-122"/>
                <a:cs typeface="+mn-cs"/>
              </a:rPr>
              <a:t>: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2D338C-7205-D18C-1BAC-8904A55DA3ED}"/>
              </a:ext>
            </a:extLst>
          </p:cNvPr>
          <p:cNvSpPr txBox="1"/>
          <p:nvPr/>
        </p:nvSpPr>
        <p:spPr>
          <a:xfrm>
            <a:off x="359662" y="5510990"/>
            <a:ext cx="5522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Graphik"/>
                <a:ea typeface="Microsoft YaHei" panose="020B0503020204020204" pitchFamily="34" charset="-122"/>
              </a:rPr>
              <a:t>RP: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9267D4-C99C-97C6-E512-6C81E126C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843" y="2434978"/>
            <a:ext cx="4477365" cy="263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2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erch CoE Retail_2024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enture E&amp;I_2024" id="{438F950C-4C1C-4843-83C3-3F136CEF790D}" vid="{AF11A06D-9515-4150-A720-A6855551C8FA}"/>
    </a:ext>
  </a:extLst>
</a:theme>
</file>

<file path=ppt/theme/themeOverride1.xml><?xml version="1.0" encoding="utf-8"?>
<a:themeOverride xmlns:a="http://schemas.openxmlformats.org/drawingml/2006/main">
  <a:clrScheme name="Accenture 2020">
    <a:dk1>
      <a:srgbClr val="000000"/>
    </a:dk1>
    <a:lt1>
      <a:srgbClr val="FFFFFF"/>
    </a:lt1>
    <a:dk2>
      <a:srgbClr val="96968C"/>
    </a:dk2>
    <a:lt2>
      <a:srgbClr val="E6E6DC"/>
    </a:lt2>
    <a:accent1>
      <a:srgbClr val="A100FF"/>
    </a:accent1>
    <a:accent2>
      <a:srgbClr val="7500C0"/>
    </a:accent2>
    <a:accent3>
      <a:srgbClr val="460073"/>
    </a:accent3>
    <a:accent4>
      <a:srgbClr val="B455AA"/>
    </a:accent4>
    <a:accent5>
      <a:srgbClr val="BE82FF"/>
    </a:accent5>
    <a:accent6>
      <a:srgbClr val="DCAFFF"/>
    </a:accent6>
    <a:hlink>
      <a:srgbClr val="A100FF"/>
    </a:hlink>
    <a:folHlink>
      <a:srgbClr val="7500C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334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Sectra Fine Bk</vt:lpstr>
      <vt:lpstr>System Font</vt:lpstr>
      <vt:lpstr>Aptos</vt:lpstr>
      <vt:lpstr>Aptos Display</vt:lpstr>
      <vt:lpstr>Arial</vt:lpstr>
      <vt:lpstr>Graphik</vt:lpstr>
      <vt:lpstr>Graphik Semibold</vt:lpstr>
      <vt:lpstr>Office Theme</vt:lpstr>
      <vt:lpstr>Merch CoE Retail_2024</vt:lpstr>
      <vt:lpstr>think-cell Folie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Han, Zhiying</dc:creator>
  <cp:lastModifiedBy>Hao, Yuyang</cp:lastModifiedBy>
  <cp:revision>7</cp:revision>
  <dcterms:created xsi:type="dcterms:W3CDTF">2026-08-14T06:41:31Z</dcterms:created>
  <dcterms:modified xsi:type="dcterms:W3CDTF">2026-08-19T10:01:19Z</dcterms:modified>
</cp:coreProperties>
</file>